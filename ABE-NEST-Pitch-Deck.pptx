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5" r:id="rId12"/>
    <p:sldId id="264" r:id="rId13"/>
    <p:sldId id="272" r:id="rId14"/>
    <p:sldId id="266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302020204030204" pitchFamily="34" charset="0"/>
      <p:regular r:id="rId22"/>
      <p:bold r:id="rId23"/>
      <p:italic r:id="rId24"/>
      <p:boldItalic r:id="rId25"/>
    </p:embeddedFont>
    <p:embeddedFont>
      <p:font typeface="Poppins" pitchFamily="2" charset="77"/>
      <p:regular r:id="rId26"/>
      <p:bold r:id="rId27"/>
      <p:italic r:id="rId28"/>
      <p:boldItalic r:id="rId29"/>
    </p:embeddedFont>
    <p:embeddedFont>
      <p:font typeface="Poppins SemiBold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3"/>
    <p:restoredTop sz="94687"/>
  </p:normalViewPr>
  <p:slideViewPr>
    <p:cSldViewPr snapToGrid="0">
      <p:cViewPr varScale="1">
        <p:scale>
          <a:sx n="85" d="100"/>
          <a:sy n="85" d="100"/>
        </p:scale>
        <p:origin x="184" y="5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3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4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4.jpe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3.png"/><Relationship Id="rId7" Type="http://schemas.openxmlformats.org/officeDocument/2006/relationships/image" Target="../media/image4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881312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ABE NEST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491037" y="4367212"/>
            <a:ext cx="3209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27676"/>
                </a:solidFill>
                <a:latin typeface="Lato Light"/>
                <a:ea typeface="Lato Light"/>
                <a:cs typeface="Lato Light"/>
                <a:sym typeface="Lato Light"/>
              </a:rPr>
              <a:t>Empowering Young Mothers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488" y="5641181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LET HER BE, LET HER GROW, LET HER THRIVE</a:t>
            </a:r>
            <a:endParaRPr dirty="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063" y="367100"/>
            <a:ext cx="2407850" cy="240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4614862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1 in 20 girls aged 15–19 has already begun childbearing</a:t>
            </a:r>
            <a:r>
              <a:rPr lang="en-US" sz="1500" b="1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,8% INCREASE in rate in 2025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14637"/>
            <a:ext cx="52387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E8A6A6"/>
                </a:solidFill>
                <a:latin typeface="Poppins"/>
                <a:ea typeface="Poppins"/>
                <a:cs typeface="Poppins"/>
                <a:sym typeface="Poppins"/>
              </a:rPr>
              <a:t>22,454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95763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Teen Pregnancies (2024)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2814637"/>
            <a:ext cx="52387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E8A6A6"/>
                </a:solidFill>
                <a:latin typeface="Poppins"/>
                <a:ea typeface="Poppins"/>
                <a:cs typeface="Poppins"/>
                <a:sym typeface="Poppins"/>
              </a:rPr>
              <a:t>~70%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95763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Maternal Deaths are Avoidable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3659" y="595312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The Rising Crisis in Rwanda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B70E8CB0-0F9B-0D91-FA56-B0B2BE4E1225}"/>
              </a:ext>
            </a:extLst>
          </p:cNvPr>
          <p:cNvSpPr/>
          <p:nvPr/>
        </p:nvSpPr>
        <p:spPr>
          <a:xfrm>
            <a:off x="11338341" y="214312"/>
            <a:ext cx="671892" cy="619125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7000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67000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67000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30099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44231" y="36576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Education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14400" y="4133850"/>
            <a:ext cx="28067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Severe disruption of school cycles, ending futures prematurely.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22530" y="32289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Economy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92699" y="3705225"/>
            <a:ext cx="28067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Long-term economic disparities for families and communities.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699" y="30099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400830" y="3657600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Nutrition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70999" y="4133850"/>
            <a:ext cx="28067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Increased risks of child stunting and low birth weight.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The Multi-Generational Impact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81A1B70E-04DC-1C03-CC43-94292EB629E4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9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8527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1,000 Days of Support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128962"/>
            <a:ext cx="52863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We provide a comprehensive Holistic ecosystem supporting young mothers from the start of pregnancy through the first 1,000 days of their child's life.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2062162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41386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Bridging the digital-physical gap.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5672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Focused on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maternal,nutrition,mental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&amp; physical well-being.</a:t>
            </a:r>
            <a:endParaRPr dirty="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1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962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ABE NEST: A Holistic Ecosystem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10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Digital Innovation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26267" y="2104166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Health in Her Hands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420708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SMS Reminders: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Direct notifications for prenatal checkups.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799241"/>
            <a:ext cx="4953000" cy="136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#1st Maternal Mobile Application in Rwanda: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Menstrual and Pregnancy Cycle trackers and nutrition guides.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497435" y="3753153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AI Chatbot: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24/7 answers for maternal health concerns.</a:t>
            </a:r>
            <a:endParaRPr dirty="0"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4" y="2883694"/>
            <a:ext cx="204787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211" y="4470870"/>
            <a:ext cx="1714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3" y="3780633"/>
            <a:ext cx="238125" cy="223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C44CC9-F022-7170-53A9-1CEBCDAD7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61063"/>
            <a:ext cx="3048000" cy="30423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1E054-E475-FA34-6628-4B35CCD37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1935" y="3021807"/>
            <a:ext cx="3122065" cy="3205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4125"/>
            <a:ext cx="349254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24125"/>
            <a:ext cx="349254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24125"/>
            <a:ext cx="349254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8670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44231" y="351472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Toll-Free Support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14400" y="3990975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Round-the-clock emergency guidance and counseling for isolated mothers.</a:t>
            </a:r>
            <a:endParaRPr dirty="0"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28670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622530" y="351472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Talk to a Specialist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92699" y="3990975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Direct access to healthcare professionals for urgent health concerns.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549" y="28670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400830" y="351472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Shared Spaces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70999" y="3990975"/>
            <a:ext cx="28067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Community platform for mothers to connect and share experiences.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Direct On-The-Ground Support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99AF5BE1-5479-265E-0969-078C4A4CB245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0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1785937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652" y="1824037"/>
            <a:ext cx="421005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6334125" y="29956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Essential Motherhood Kits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334125" y="32718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Generating revenue while providing critical support through curated product lines.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39957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Antenatal Kits: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Essentials for a healthy pregnancy.</a:t>
            </a:r>
            <a:endParaRPr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6334125" y="4424362"/>
            <a:ext cx="528637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Postnatal Kits: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Recovery and newborn care items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 motherhood guide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Maternal supplementation according to Age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rgbClr val="4A4A4A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481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4767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ABE Wellness </a:t>
            </a:r>
            <a:r>
              <a:rPr lang="en-US" sz="3300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Center</a:t>
            </a:r>
            <a:endParaRPr dirty="0"/>
          </a:p>
        </p:txBody>
      </p:sp>
      <p:sp>
        <p:nvSpPr>
          <p:cNvPr id="187" name="Google Shape;187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losed book with solid fill">
            <a:extLst>
              <a:ext uri="{FF2B5EF4-FFF2-40B4-BE49-F238E27FC236}">
                <a16:creationId xmlns:a16="http://schemas.microsoft.com/office/drawing/2014/main" id="{DFB57E2F-856F-877B-A4A4-0F9136803C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2582" y="4812660"/>
            <a:ext cx="292043" cy="292043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17298065-C2D6-388F-79F8-A07C3F6DE72F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0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6" name="Graphic 5" descr="Medicine with solid fill">
            <a:extLst>
              <a:ext uri="{FF2B5EF4-FFF2-40B4-BE49-F238E27FC236}">
                <a16:creationId xmlns:a16="http://schemas.microsoft.com/office/drawing/2014/main" id="{96539E54-295A-B0FD-6D14-3F1EECAEC2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2582" y="5145339"/>
            <a:ext cx="393583" cy="393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26384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Health through Connection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29146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Our wellness club encourages physical health through specialized memberships, creating a sustainable funding source for our outreach programs.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39243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Weekly prenatal fitness sessions.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3529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Post-partum recovery classes.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47815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Supportive community environment.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766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053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3393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ABE Fitness Center</a:t>
            </a:r>
            <a:endParaRPr dirty="0"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D0A84827-B6CD-CCCB-855B-31A65D449DC6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8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C45AB-FE4D-B944-2ECD-D178D61F4F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693" y="1721245"/>
            <a:ext cx="5634638" cy="3765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23050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Growing Need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5812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Rwanda's demographic landscape shows a critical need for specialized maternal support.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824037"/>
            <a:ext cx="52101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33051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TAM: 1.2M+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Women of reproductive age in Rwanda.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0671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SAM: 22,454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Annual teen pregnancies requiring urgent care.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8291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SOM: 10,000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Target girls and mothers to be supported by 2028.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Market Opportunity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2F091752-5338-45CF-699E-EDB51D973468}"/>
              </a:ext>
            </a:extLst>
          </p:cNvPr>
          <p:cNvSpPr/>
          <p:nvPr/>
        </p:nvSpPr>
        <p:spPr>
          <a:xfrm>
            <a:off x="11388326" y="129063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3429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047875"/>
            <a:ext cx="3429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047875"/>
            <a:ext cx="3429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3725" y="2905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381625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27676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-US" sz="1500" b="0" i="0" u="none" strike="noStrike" cap="none" dirty="0">
                <a:solidFill>
                  <a:srgbClr val="C27676"/>
                </a:solidFill>
                <a:latin typeface="Lato"/>
                <a:ea typeface="Lato"/>
                <a:cs typeface="Lato"/>
                <a:sym typeface="Lato"/>
              </a:rPr>
              <a:t>% of all profits are reinvested directly into our education programs.</a:t>
            </a:r>
            <a:endParaRPr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38400"/>
            <a:ext cx="2647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95826" y="3133725"/>
            <a:ext cx="27803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ABE KIT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3609975"/>
            <a:ext cx="26479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Selling specialized  Antenatal and Postnatal Motherhood Kits.</a:t>
            </a:r>
            <a:endParaRPr dirty="0"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2438400"/>
            <a:ext cx="2647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4705826" y="3133725"/>
            <a:ext cx="27803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Fitness Center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772025" y="3609975"/>
            <a:ext cx="2647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Membership-based wellness and fitness programs for young mothers.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82025" y="2438400"/>
            <a:ext cx="2647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8515826" y="3133725"/>
            <a:ext cx="27803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Partnerships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582025" y="3609975"/>
            <a:ext cx="2647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Collaborations with NGOs and health institutions for community outreach.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077575" y="285750"/>
            <a:ext cx="7334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ABE NEST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Sustainable Business Model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71500" y="5381625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Scaling services to reduce teen pregnancy, Maternal and neonatal deaths  and stunting rates across Rwanda.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Vision 2028 Roadmap</a:t>
            </a:r>
            <a:endParaRPr dirty="0"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44540A7-0663-05FE-A7C0-6699F9E01457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71500" y="46148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Focusing on self-reliance and breaking the cycle of poverty through entrepreneurial models.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2814637"/>
            <a:ext cx="52387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E8A6A6"/>
                </a:solidFill>
                <a:latin typeface="Poppins"/>
                <a:ea typeface="Poppins"/>
                <a:cs typeface="Poppins"/>
                <a:sym typeface="Poppins"/>
              </a:rPr>
              <a:t>50+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395763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Jobs Created (2 Years)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2814637"/>
            <a:ext cx="523875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dirty="0">
                <a:solidFill>
                  <a:srgbClr val="E8A6A6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lang="en-US" sz="8250" b="1" i="0" u="none" strike="noStrike" cap="none" dirty="0">
                <a:solidFill>
                  <a:srgbClr val="E8A6A6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dirty="0"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395763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Profits Reinvested</a:t>
            </a:r>
            <a:endParaRPr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Economic Inclusion &amp; Reinvestment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AB0D2C45-4067-0A81-438F-8FE543D4ABFC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5"/>
          <p:cNvGraphicFramePr/>
          <p:nvPr>
            <p:extLst>
              <p:ext uri="{D42A27DB-BD31-4B8C-83A1-F6EECF244321}">
                <p14:modId xmlns:p14="http://schemas.microsoft.com/office/powerpoint/2010/main" val="1637323509"/>
              </p:ext>
            </p:extLst>
          </p:nvPr>
        </p:nvGraphicFramePr>
        <p:xfrm>
          <a:off x="571500" y="1676400"/>
          <a:ext cx="11049000" cy="45052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5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2767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2767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Umubyeyi Elevate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2767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ABE NEST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Primarily </a:t>
                      </a:r>
                      <a:r>
                        <a:rPr lang="en-US" sz="15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Digital,no</a:t>
                      </a: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app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Hybrid (Digital + Physical)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Teen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General Maternal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Specialized for </a:t>
                      </a:r>
                      <a:r>
                        <a:rPr lang="en-US" sz="1500" b="1" i="0" u="none" strike="noStrike" cap="none" dirty="0" err="1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Teens,Mothers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Physical Products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Kits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Antenatal &amp; Postnatal Wellness Kits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Emergency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Online Community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24/7 Toll-Free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Inclusivity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Mothers with Disabilities Focus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5" name="Google Shape;125;p15"/>
          <p:cNvSpPr/>
          <p:nvPr/>
        </p:nvSpPr>
        <p:spPr>
          <a:xfrm>
            <a:off x="571500" y="2414587"/>
            <a:ext cx="3250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822055" y="2414587"/>
            <a:ext cx="341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232898" y="2414587"/>
            <a:ext cx="4387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71500" y="3167062"/>
            <a:ext cx="3250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822055" y="3167062"/>
            <a:ext cx="341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232898" y="3167062"/>
            <a:ext cx="4387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3919537"/>
            <a:ext cx="3250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822055" y="3919537"/>
            <a:ext cx="341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232898" y="3919537"/>
            <a:ext cx="4387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71500" y="4672012"/>
            <a:ext cx="3250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822055" y="4672012"/>
            <a:ext cx="341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7232898" y="4672012"/>
            <a:ext cx="4387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5424487"/>
            <a:ext cx="3250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822055" y="5424487"/>
            <a:ext cx="34108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232898" y="5424487"/>
            <a:ext cx="43876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Competitive Landscape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88AA6B46-C3FA-2989-2102-6EE7311CDD21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3052762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Sandrine </a:t>
            </a:r>
            <a:r>
              <a:rPr lang="en-US" sz="1500" b="1" i="0" u="none" strike="noStrike" cap="none" dirty="0" err="1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Uwase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3529012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Dr. Benjamin </a:t>
            </a:r>
            <a:r>
              <a:rPr lang="en-US" sz="1500" b="1" i="0" u="none" strike="noStrike" cap="none" dirty="0" err="1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Niyishoboyebyose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239" name="Google Shape;239;p23"/>
          <p:cNvSpPr txBox="1"/>
          <p:nvPr/>
        </p:nvSpPr>
        <p:spPr>
          <a:xfrm>
            <a:off x="571498" y="4329112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Emmanuel Nsengiyumva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571499" y="3929062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Germaine Ishimwe </a:t>
            </a:r>
            <a:r>
              <a:rPr lang="en-US" sz="1500" b="1" i="0" u="none" strike="noStrike" cap="none" dirty="0" err="1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Umuhoza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4A4A4A"/>
                </a:solidFill>
                <a:latin typeface="Poppins"/>
                <a:ea typeface="Poppins"/>
                <a:cs typeface="Poppins"/>
                <a:sym typeface="Poppins"/>
              </a:rPr>
              <a:t>Our Expert Leadership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E8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A06A2-62D6-8D08-60AD-5999FF634115}"/>
              </a:ext>
            </a:extLst>
          </p:cNvPr>
          <p:cNvSpPr txBox="1"/>
          <p:nvPr/>
        </p:nvSpPr>
        <p:spPr>
          <a:xfrm>
            <a:off x="3050498" y="3278859"/>
            <a:ext cx="6100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b="0" dirty="0">
                <a:effectLst/>
              </a:rPr>
              <a:t> </a:t>
            </a:r>
            <a:endParaRPr lang="en-A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1A1B50-FD86-2282-9012-A55E83AB0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530" y="1000124"/>
            <a:ext cx="1547813" cy="23199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1FDC94-6792-7442-44A3-D8E75992B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014" y="952224"/>
            <a:ext cx="1665387" cy="23533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880658-44F4-B64A-4F5C-1192E7CFD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530" y="3399011"/>
            <a:ext cx="1547813" cy="24796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37DDD4-116F-849D-6328-53497517ED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812" y="3426890"/>
            <a:ext cx="1664589" cy="2451775"/>
          </a:xfrm>
          <a:prstGeom prst="rect">
            <a:avLst/>
          </a:prstGeom>
        </p:spPr>
      </p:pic>
      <p:sp>
        <p:nvSpPr>
          <p:cNvPr id="24" name="Freeform 5">
            <a:extLst>
              <a:ext uri="{FF2B5EF4-FFF2-40B4-BE49-F238E27FC236}">
                <a16:creationId xmlns:a16="http://schemas.microsoft.com/office/drawing/2014/main" id="{436698F3-3C98-A26A-D735-06F233320A7F}"/>
              </a:ext>
            </a:extLst>
          </p:cNvPr>
          <p:cNvSpPr/>
          <p:nvPr/>
        </p:nvSpPr>
        <p:spPr>
          <a:xfrm>
            <a:off x="11487149" y="120877"/>
            <a:ext cx="580233" cy="485094"/>
          </a:xfrm>
          <a:custGeom>
            <a:avLst/>
            <a:gdLst/>
            <a:ahLst/>
            <a:cxnLst/>
            <a:rect l="l" t="t" r="r" b="b"/>
            <a:pathLst>
              <a:path w="2898919" h="2898919">
                <a:moveTo>
                  <a:pt x="0" y="0"/>
                </a:moveTo>
                <a:lnTo>
                  <a:pt x="2898919" y="0"/>
                </a:lnTo>
                <a:lnTo>
                  <a:pt x="2898919" y="2898919"/>
                </a:lnTo>
                <a:lnTo>
                  <a:pt x="0" y="289891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8">
              <a:alphaModFix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295275" y="2333625"/>
            <a:ext cx="116014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C27676"/>
                </a:solidFill>
                <a:latin typeface="Poppins"/>
                <a:ea typeface="Poppins"/>
                <a:cs typeface="Poppins"/>
                <a:sym typeface="Poppins"/>
              </a:rPr>
              <a:t>Join Our Journey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71500" y="44100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27676"/>
                </a:solidFill>
                <a:latin typeface="Lato"/>
                <a:ea typeface="Lato"/>
                <a:cs typeface="Lato"/>
                <a:sym typeface="Lato"/>
              </a:rPr>
              <a:t>Empowering the next generation of Rwandan mothers.</a:t>
            </a:r>
            <a:endParaRPr dirty="0"/>
          </a:p>
        </p:txBody>
      </p:sp>
      <p:sp>
        <p:nvSpPr>
          <p:cNvPr id="251" name="Google Shape;251;p24"/>
          <p:cNvSpPr txBox="1"/>
          <p:nvPr/>
        </p:nvSpPr>
        <p:spPr>
          <a:xfrm>
            <a:off x="571500" y="34385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abenest250@gmail.com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38671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0787248328 / 0786925625</a:t>
            </a:r>
            <a:endParaRPr/>
          </a:p>
        </p:txBody>
      </p:sp>
      <p:pic>
        <p:nvPicPr>
          <p:cNvPr id="254" name="Google Shape;25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9187" y="34956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5825" y="39243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Macintosh PowerPoint</Application>
  <PresentationFormat>Widescreen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Poppins SemiBold</vt:lpstr>
      <vt:lpstr>Lato Light</vt:lpstr>
      <vt:lpstr>Arial</vt:lpstr>
      <vt:lpstr>Lato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MacBook Pro</cp:lastModifiedBy>
  <cp:revision>1</cp:revision>
  <dcterms:modified xsi:type="dcterms:W3CDTF">2026-01-29T21:49:18Z</dcterms:modified>
</cp:coreProperties>
</file>